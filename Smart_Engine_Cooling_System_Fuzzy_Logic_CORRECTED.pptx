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ED02D2-3579-402D-A15D-2D7CEB91499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BC730-CFA7-48A0-BAFA-16C74729A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398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1BC730-CFA7-48A0-BAFA-16C74729AFC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776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13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3.png"/><Relationship Id="rId7" Type="http://schemas.openxmlformats.org/officeDocument/2006/relationships/image" Target="../media/image4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13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62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13.png"/><Relationship Id="rId15" Type="http://schemas.openxmlformats.org/officeDocument/2006/relationships/image" Target="../media/image73.png"/><Relationship Id="rId10" Type="http://schemas.openxmlformats.org/officeDocument/2006/relationships/image" Target="../media/image68.png"/><Relationship Id="rId4" Type="http://schemas.openxmlformats.org/officeDocument/2006/relationships/image" Target="../media/image63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13.png"/><Relationship Id="rId7" Type="http://schemas.openxmlformats.org/officeDocument/2006/relationships/image" Target="../media/image80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13.png"/><Relationship Id="rId7" Type="http://schemas.openxmlformats.org/officeDocument/2006/relationships/image" Target="../media/image88.png"/><Relationship Id="rId12" Type="http://schemas.openxmlformats.org/officeDocument/2006/relationships/image" Target="../media/image92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11" Type="http://schemas.openxmlformats.org/officeDocument/2006/relationships/image" Target="../media/image91.png"/><Relationship Id="rId5" Type="http://schemas.openxmlformats.org/officeDocument/2006/relationships/image" Target="../media/image86.png"/><Relationship Id="rId10" Type="http://schemas.openxmlformats.org/officeDocument/2006/relationships/image" Target="../media/image90.png"/><Relationship Id="rId4" Type="http://schemas.openxmlformats.org/officeDocument/2006/relationships/image" Target="../media/image85.png"/><Relationship Id="rId9" Type="http://schemas.openxmlformats.org/officeDocument/2006/relationships/image" Target="../media/image7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13.png"/><Relationship Id="rId7" Type="http://schemas.openxmlformats.org/officeDocument/2006/relationships/image" Target="../media/image102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3.png"/><Relationship Id="rId7" Type="http://schemas.openxmlformats.org/officeDocument/2006/relationships/image" Target="../media/image108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3.png"/><Relationship Id="rId7" Type="http://schemas.openxmlformats.org/officeDocument/2006/relationships/image" Target="../media/image114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3.png"/><Relationship Id="rId7" Type="http://schemas.openxmlformats.org/officeDocument/2006/relationships/image" Target="../media/image120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3.png"/><Relationship Id="rId7" Type="http://schemas.openxmlformats.org/officeDocument/2006/relationships/image" Target="../media/image125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13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11" Type="http://schemas.openxmlformats.org/officeDocument/2006/relationships/image" Target="../media/image135.png"/><Relationship Id="rId5" Type="http://schemas.openxmlformats.org/officeDocument/2006/relationships/image" Target="../media/image129.png"/><Relationship Id="rId10" Type="http://schemas.openxmlformats.org/officeDocument/2006/relationships/image" Target="../media/image134.png"/><Relationship Id="rId4" Type="http://schemas.openxmlformats.org/officeDocument/2006/relationships/image" Target="../media/image128.png"/><Relationship Id="rId9" Type="http://schemas.openxmlformats.org/officeDocument/2006/relationships/image" Target="../media/image13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47.png"/><Relationship Id="rId3" Type="http://schemas.openxmlformats.org/officeDocument/2006/relationships/image" Target="../media/image13.png"/><Relationship Id="rId7" Type="http://schemas.openxmlformats.org/officeDocument/2006/relationships/image" Target="../media/image141.png"/><Relationship Id="rId12" Type="http://schemas.openxmlformats.org/officeDocument/2006/relationships/image" Target="../media/image146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png"/><Relationship Id="rId11" Type="http://schemas.openxmlformats.org/officeDocument/2006/relationships/image" Target="../media/image145.png"/><Relationship Id="rId5" Type="http://schemas.openxmlformats.org/officeDocument/2006/relationships/image" Target="../media/image139.png"/><Relationship Id="rId10" Type="http://schemas.openxmlformats.org/officeDocument/2006/relationships/image" Target="../media/image144.png"/><Relationship Id="rId4" Type="http://schemas.openxmlformats.org/officeDocument/2006/relationships/image" Target="../media/image138.png"/><Relationship Id="rId9" Type="http://schemas.openxmlformats.org/officeDocument/2006/relationships/image" Target="../media/image1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13.png"/><Relationship Id="rId7" Type="http://schemas.openxmlformats.org/officeDocument/2006/relationships/image" Target="../media/image154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Relationship Id="rId9" Type="http://schemas.openxmlformats.org/officeDocument/2006/relationships/image" Target="../media/image15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13.png"/><Relationship Id="rId7" Type="http://schemas.openxmlformats.org/officeDocument/2006/relationships/image" Target="../media/image161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0.png"/><Relationship Id="rId5" Type="http://schemas.openxmlformats.org/officeDocument/2006/relationships/image" Target="../media/image159.png"/><Relationship Id="rId10" Type="http://schemas.openxmlformats.org/officeDocument/2006/relationships/image" Target="../media/image163.png"/><Relationship Id="rId4" Type="http://schemas.openxmlformats.org/officeDocument/2006/relationships/image" Target="../media/image158.png"/><Relationship Id="rId9" Type="http://schemas.openxmlformats.org/officeDocument/2006/relationships/image" Target="../media/image16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3" Type="http://schemas.openxmlformats.org/officeDocument/2006/relationships/image" Target="../media/image13.png"/><Relationship Id="rId7" Type="http://schemas.openxmlformats.org/officeDocument/2006/relationships/image" Target="../media/image170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9.png"/><Relationship Id="rId5" Type="http://schemas.openxmlformats.org/officeDocument/2006/relationships/image" Target="../media/image168.png"/><Relationship Id="rId10" Type="http://schemas.openxmlformats.org/officeDocument/2006/relationships/image" Target="../media/image173.png"/><Relationship Id="rId4" Type="http://schemas.openxmlformats.org/officeDocument/2006/relationships/image" Target="../media/image167.png"/><Relationship Id="rId9" Type="http://schemas.openxmlformats.org/officeDocument/2006/relationships/image" Target="../media/image17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3" Type="http://schemas.openxmlformats.org/officeDocument/2006/relationships/image" Target="../media/image13.png"/><Relationship Id="rId7" Type="http://schemas.openxmlformats.org/officeDocument/2006/relationships/image" Target="../media/image178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7.png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150" y="228600"/>
            <a:ext cx="26479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6400800"/>
            <a:ext cx="112014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65658" y="2526952"/>
            <a:ext cx="5460682" cy="6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FFFFFF"/>
                </a:solidFill>
                <a:latin typeface="Space Grotesk"/>
              </a:rPr>
              <a:t>Fuzzy Logic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8875" y="3330773"/>
            <a:ext cx="73342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Inter Light"/>
              </a:rPr>
              <a:t>A Worked Case Study: Designing a Smart Engine Cooling System Controller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2712" y="3987998"/>
            <a:ext cx="14097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6712" y="3987998"/>
            <a:ext cx="1438275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9287" y="3987998"/>
            <a:ext cx="15240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7587" y="3987998"/>
            <a:ext cx="2171700" cy="342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5300" y="6524625"/>
            <a:ext cx="26860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Inter"/>
              </a:rPr>
              <a:t>Course: Fuzzy Logic &amp; Intelligent Control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750" y="6524625"/>
            <a:ext cx="1885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Inter"/>
              </a:rPr>
              <a:t>Inputs (3) · Output (1) · Mamdani FIS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3687" y="4092773"/>
            <a:ext cx="133350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57687" y="4092773"/>
            <a:ext cx="85725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10262" y="4092773"/>
            <a:ext cx="171450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48562" y="4092773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5550" y="228600"/>
            <a:ext cx="1733550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6400800"/>
            <a:ext cx="1120140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2252662"/>
            <a:ext cx="5429250" cy="3028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2252662"/>
            <a:ext cx="5429250" cy="3028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0587" y="419100"/>
            <a:ext cx="11301412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The Problem: Why Does Engine Cooling Need Fuzzy Logic?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481012"/>
            <a:ext cx="280987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5300" y="6524625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Fuzzy Logic PBL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8550" y="6524625"/>
            <a:ext cx="438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575" y="2547937"/>
            <a:ext cx="508063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Space Grotesk"/>
              </a:rPr>
              <a:t>Scenario &amp; Traditional 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75" y="2928937"/>
            <a:ext cx="48387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A vehicle's engine operates under dynamic stress. A simple binary thermostat rule like </a:t>
            </a:r>
            <a:r>
              <a:rPr sz="1200" b="0" i="1" u="none">
                <a:solidFill>
                  <a:srgbClr val="334155"/>
                </a:solidFill>
                <a:latin typeface="Inter"/>
              </a:rPr>
              <a:t>"If Coolant Temp &gt; 90°C, turn on fan for 10 min"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is brittle. It ignores whether the ambient weather is 40°C in traffic or 10°C on a highway, leading to thermal shock, excessive fan wear, or engine overheating.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" y="4186237"/>
            <a:ext cx="48387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Human automotive engineers reason with soft thresholds: </a:t>
            </a:r>
            <a:r>
              <a:rPr sz="1200" b="0" i="1" u="none">
                <a:solidFill>
                  <a:srgbClr val="334155"/>
                </a:solidFill>
                <a:latin typeface="Inter"/>
              </a:rPr>
              <a:t>"Engine is moderately hot," "Coolant is rising fast," "Environment is scorching."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Fuzzy logic mimics this expert reasoning seamlessly.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2547937"/>
            <a:ext cx="508063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Space Grotesk"/>
              </a:rPr>
              <a:t>Design Task &amp; Learning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2928937"/>
            <a:ext cx="48387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Design Task: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Build a Mamdani Fuzzy Inference System (FIS) reading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Engine Temp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,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Coolant Temp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, and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Environmental Temp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to dictate precise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Radiator Fan Duration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0" y="3729037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3225" y="3729037"/>
            <a:ext cx="4648200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Differentiate crisp vs. fuzzy engine states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0" y="3957637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3225" y="3957637"/>
            <a:ext cx="4648200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Design membership functions for thermal sensors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0" y="4186237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225" y="4186237"/>
            <a:ext cx="4648200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Fuzzify real-time temperature sensor telemetry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0" y="4414837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3225" y="4414837"/>
            <a:ext cx="4648200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Evaluate Mamdani min/max IF-THEN rule bases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0" y="4643437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3225" y="4643437"/>
            <a:ext cx="4648200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r>
              <a:rPr sz="1500"/>
              <a:t>Defuzzify the aggregated output using the Centroid method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4150" y="228600"/>
            <a:ext cx="1504950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6400800"/>
            <a:ext cx="1120140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2187922"/>
            <a:ext cx="5429250" cy="315828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2187922"/>
            <a:ext cx="5429250" cy="315828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5" y="3435697"/>
            <a:ext cx="4838700" cy="952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3469778"/>
            <a:ext cx="4838700" cy="952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6787" y="419100"/>
            <a:ext cx="11225212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Crisp Sets vs. Fuzzy Sets in Thermal Systems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481012"/>
            <a:ext cx="357187" cy="285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5300" y="6524625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Fuzzy Logic PBL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58550" y="6524625"/>
            <a:ext cx="438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" y="2483197"/>
            <a:ext cx="508063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Space Grotesk"/>
              </a:rPr>
              <a:t>Crisp (Classical) Thermal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575" y="2864197"/>
            <a:ext cx="48387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Membership is strictly binary: an engine state either completely belongs (1) or does not belong (0).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75" y="4502497"/>
            <a:ext cx="48387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EF4444"/>
                </a:solidFill>
                <a:latin typeface="Inter"/>
              </a:rPr>
              <a:t>Problem:</a:t>
            </a:r>
            <a:r>
              <a:rPr sz="1050" b="0" i="0" u="none">
                <a:solidFill>
                  <a:srgbClr val="EF4444"/>
                </a:solidFill>
                <a:latin typeface="Inter"/>
              </a:rPr>
              <a:t> A tiny 0.2°C noise spike abruptly toggles heavy fan power, causing electromechanical stress and hunting behavior.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2483197"/>
            <a:ext cx="508063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Space Grotesk"/>
              </a:rPr>
              <a:t>Fuzzy Thermal 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2864197"/>
            <a:ext cx="4838700" cy="491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Membership is a continuous degree: , enabling smooth, gradual transitions between states.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4536578"/>
            <a:ext cx="48387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10B981"/>
                </a:solidFill>
                <a:latin typeface="Inter"/>
              </a:rPr>
              <a:t>Advantage:</a:t>
            </a:r>
            <a:r>
              <a:rPr sz="1050" b="0" i="0" u="none">
                <a:solidFill>
                  <a:srgbClr val="10B981"/>
                </a:solidFill>
                <a:latin typeface="Inter"/>
              </a:rPr>
              <a:t> An engine reading can be </a:t>
            </a:r>
            <a:r>
              <a:rPr sz="1050" b="0" i="1" u="none">
                <a:solidFill>
                  <a:srgbClr val="10B981"/>
                </a:solidFill>
                <a:latin typeface="Inter"/>
              </a:rPr>
              <a:t>somewhat warm</a:t>
            </a:r>
            <a:r>
              <a:rPr sz="1050" b="0" i="0" u="none">
                <a:solidFill>
                  <a:srgbClr val="10B981"/>
                </a:solidFill>
                <a:latin typeface="Inter"/>
              </a:rPr>
              <a:t> and </a:t>
            </a:r>
            <a:r>
              <a:rPr sz="1050" b="0" i="1" u="none">
                <a:solidFill>
                  <a:srgbClr val="10B981"/>
                </a:solidFill>
                <a:latin typeface="Inter"/>
              </a:rPr>
              <a:t>somewhat hot</a:t>
            </a:r>
            <a:r>
              <a:rPr sz="1050" b="0" i="0" u="none">
                <a:solidFill>
                  <a:srgbClr val="10B981"/>
                </a:solidFill>
                <a:latin typeface="Inter"/>
              </a:rPr>
              <a:t> simultaneously, matching realistic thermodynamics.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4150" y="228600"/>
            <a:ext cx="1504950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6400800"/>
            <a:ext cx="1120140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2405062"/>
            <a:ext cx="2628900" cy="2724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00" y="2405062"/>
            <a:ext cx="2628900" cy="2724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405062"/>
            <a:ext cx="2628900" cy="27241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7800" y="2405062"/>
            <a:ext cx="2628900" cy="2724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8687" y="419100"/>
            <a:ext cx="11263312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Architecture of Fuzzy Inference System (FIS)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481012"/>
            <a:ext cx="319087" cy="285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5300" y="6524625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Fuzzy Logic PBL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9025" y="6524625"/>
            <a:ext cx="4476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3252787"/>
            <a:ext cx="218027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1. Fuzzification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3595687"/>
            <a:ext cx="20764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Convert crisp sensor inputs (°C) into fuzzy membership degrees using input membership functions.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9025" y="3252787"/>
            <a:ext cx="218027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2. Rule 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9025" y="3595687"/>
            <a:ext cx="20764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Apply expert IF-THEN rules from Knowledge Base; evaluate antecedents with min/max Mamdani logic.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3252787"/>
            <a:ext cx="218027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3. Aggregation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3595687"/>
            <a:ext cx="20764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Combine all fired rule output shapes into one comprehensive fuzzy output area envelope.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4025" y="3252787"/>
            <a:ext cx="218027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4. Defuzzification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4025" y="3595687"/>
            <a:ext cx="20764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Convert aggregated fuzzy output curve into a single crisp value: Radiator Fan Duration (minutes).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2719387"/>
            <a:ext cx="342900" cy="3429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9025" y="2719387"/>
            <a:ext cx="428625" cy="3429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6525" y="2719387"/>
            <a:ext cx="390525" cy="3429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4025" y="2719387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4150" y="228600"/>
            <a:ext cx="1504950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6400800"/>
            <a:ext cx="1120140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3011537"/>
            <a:ext cx="5429250" cy="63415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350" y="2759124"/>
            <a:ext cx="5086350" cy="62463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0350" y="4174331"/>
            <a:ext cx="5086350" cy="7038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687" y="419100"/>
            <a:ext cx="11263312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Formal Definition of a Fuzzy Set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481012"/>
            <a:ext cx="319087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5300" y="6524625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Fuzzy Logic PBL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58550" y="6524625"/>
            <a:ext cx="438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300" y="2440037"/>
            <a:ext cx="5429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A fuzzy set </a:t>
            </a:r>
            <a:r>
              <a:rPr sz="1200" b="0" i="1" u="none">
                <a:solidFill>
                  <a:srgbClr val="334155"/>
                </a:solidFill>
                <a:latin typeface="Inter"/>
              </a:rPr>
              <a:t>A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defined on a universe of discourse </a:t>
            </a:r>
            <a:r>
              <a:rPr sz="1200" b="0" i="1" u="none">
                <a:solidFill>
                  <a:srgbClr val="334155"/>
                </a:solidFill>
                <a:latin typeface="Inter"/>
              </a:rPr>
              <a:t>X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is represented as a set of ordered pairs mapping element values to membership degrees: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610" y="3202037"/>
            <a:ext cx="4504580" cy="2531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200" y="3798093"/>
            <a:ext cx="50863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Universe of Discourse (X):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The entire crisp physical range, e.g., Engine Temp 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436268"/>
            <a:ext cx="5086350" cy="5055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Membership Function 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Curve assigning every crisp temperature </a:t>
            </a:r>
            <a:r>
              <a:rPr sz="1275" b="0" i="1" u="none">
                <a:solidFill>
                  <a:srgbClr val="0284C7"/>
                </a:solidFill>
                <a:latin typeface="Inter"/>
              </a:rPr>
              <a:t>x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a grade between 0 and 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24" y="2259971"/>
            <a:ext cx="5086350" cy="12628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Inter"/>
              </a:rPr>
              <a:t>Continuous Notation: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>
                <a:solidFill>
                  <a:srgbClr val="64748B"/>
                </a:solidFill>
                <a:latin typeface="Inter"/>
              </a:rPr>
              <a:t>(Where '/' represents association notation, not algebraic division).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0350" y="3855243"/>
            <a:ext cx="5086350" cy="1022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Discrete Notation: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3812381"/>
            <a:ext cx="19050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" y="4450556"/>
            <a:ext cx="19050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7450" y="2322914"/>
            <a:ext cx="238125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7506" y="2949624"/>
            <a:ext cx="1569987" cy="243631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7450" y="3869531"/>
            <a:ext cx="19050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37798" y="4364831"/>
            <a:ext cx="1669405" cy="3228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4150" y="228600"/>
            <a:ext cx="1504950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6400800"/>
            <a:ext cx="1120140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2873722"/>
            <a:ext cx="3652093" cy="178668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5993" y="2873722"/>
            <a:ext cx="3630810" cy="178668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5404" y="2873722"/>
            <a:ext cx="3461295" cy="17866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0587" y="419100"/>
            <a:ext cx="11301412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Key Properties of a Fuzzy Set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481012"/>
            <a:ext cx="280987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5300" y="6524625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Fuzzy Logic PBL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58550" y="6524625"/>
            <a:ext cx="438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3149947"/>
            <a:ext cx="32546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3869828"/>
            <a:ext cx="309964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The set of all domain temperature values having non-zero membership grade.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2218" y="3149947"/>
            <a:ext cx="3232278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2218" y="3869828"/>
            <a:ext cx="307836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Domain region representing complete, unquestionable set membership.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1629" y="3149947"/>
            <a:ext cx="305428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Alpha-Cut ( -Cut)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1629" y="3869828"/>
            <a:ext cx="290884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Crisp threshold set containing all elements with membership degree ≥ α.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3502372"/>
            <a:ext cx="3099643" cy="253156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2218" y="3502372"/>
            <a:ext cx="3078360" cy="253156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11629" y="3502372"/>
            <a:ext cx="2480220" cy="2531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4150" y="228600"/>
            <a:ext cx="1504950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6400800"/>
            <a:ext cx="11201400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0587" y="419100"/>
            <a:ext cx="11301412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Common Types of Membership Functions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81012"/>
            <a:ext cx="280987" cy="28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5300" y="6524625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Fuzzy Logic PBL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58550" y="6524625"/>
            <a:ext cx="438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07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620271"/>
              </p:ext>
            </p:extLst>
          </p:nvPr>
        </p:nvGraphicFramePr>
        <p:xfrm>
          <a:off x="146116" y="1996892"/>
          <a:ext cx="11899768" cy="361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0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927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algn="l"/>
                      <a:endParaRPr sz="1125" b="0" i="0" u="none" dirty="0">
                        <a:solidFill>
                          <a:srgbClr val="FFFFFF"/>
                        </a:solidFill>
                        <a:latin typeface="Space Grotesk SemiBold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FFFFFF"/>
                          </a:solidFill>
                          <a:latin typeface="Space Grotesk SemiBold"/>
                        </a:rPr>
                        <a:t>Parameters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FFFFFF"/>
                          </a:solidFill>
                          <a:latin typeface="Space Grotesk SemiBold"/>
                        </a:rPr>
                        <a:t>Mathematical Formula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FFFFFF"/>
                          </a:solidFill>
                          <a:latin typeface="Space Grotesk SemiBold"/>
                        </a:rPr>
                        <a:t>Automotive System Application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Triangular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a, b, 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Standard for Engine/Coolant Temp MFs (fast, lightweight microcontroller calculation).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Trapezoidal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a, b, c, 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Plateau ranges like "Normal Operating Range" (75°C–90°C full stability).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Gaussian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c, σ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
           exp
           (
           -
            1
            2
             (
               x
               -
               c
              σ
             )
            2
           )
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Smooth differentiable curves in high-precision adaptive ANFIS controllers.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Sigmoidal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a, 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
            1
             1
             +
             exp
             (
             -
             a
             (
             x
             -
             c
             )
             )
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Open-ended boundaries like "Extreme Engine Overheating (&gt;110°C)".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0062" y="2636639"/>
            <a:ext cx="12239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724025" y="2636639"/>
            <a:ext cx="12711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95166" y="2636639"/>
            <a:ext cx="30447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9891" y="2636639"/>
            <a:ext cx="56520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0062" y="3370064"/>
            <a:ext cx="12239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724025" y="3370064"/>
            <a:ext cx="12711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95166" y="3370064"/>
            <a:ext cx="30447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39891" y="3370064"/>
            <a:ext cx="56520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0062" y="4074914"/>
            <a:ext cx="12239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724025" y="4074914"/>
            <a:ext cx="12711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995166" y="4074914"/>
            <a:ext cx="30447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39891" y="4074914"/>
            <a:ext cx="56520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0062" y="4808339"/>
            <a:ext cx="12239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724025" y="4808339"/>
            <a:ext cx="12711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95166" y="4808339"/>
            <a:ext cx="30447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39891" y="4808339"/>
            <a:ext cx="56520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0062" y="5369123"/>
            <a:ext cx="12239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724025" y="5369123"/>
            <a:ext cx="12711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995166" y="5369123"/>
            <a:ext cx="30447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39891" y="5369123"/>
            <a:ext cx="56520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3525" y="2941440"/>
            <a:ext cx="723900" cy="242887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6616" y="2922984"/>
            <a:ext cx="2445841" cy="208359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8517" y="3584376"/>
            <a:ext cx="928241" cy="4286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6616" y="3632299"/>
            <a:ext cx="2701825" cy="218182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8517" y="4401741"/>
            <a:ext cx="495300" cy="242887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66616" y="4321075"/>
            <a:ext cx="1684883" cy="260002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8517" y="5119091"/>
            <a:ext cx="495300" cy="242887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66616" y="4974728"/>
            <a:ext cx="1407169" cy="2658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image.png">
            <a:extLst>
              <a:ext uri="{FF2B5EF4-FFF2-40B4-BE49-F238E27FC236}">
                <a16:creationId xmlns:a16="http://schemas.microsoft.com/office/drawing/2014/main" id="{35D97502-EF65-8ED3-0B6C-2AF9404AD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17" y="2407025"/>
            <a:ext cx="3813952" cy="2685993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4150" y="228600"/>
            <a:ext cx="1504950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6400800"/>
            <a:ext cx="112014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994" y="2407025"/>
            <a:ext cx="4145048" cy="268599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7063" y="2433723"/>
            <a:ext cx="3095029" cy="268599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83" y="3559522"/>
            <a:ext cx="3995886" cy="62463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0194" y="3591622"/>
            <a:ext cx="3947666" cy="62463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2858" y="3540472"/>
            <a:ext cx="2542579" cy="61510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3912" y="419100"/>
            <a:ext cx="1136808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Fuzzy Set Operations (Zadeh Operators)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" y="481012"/>
            <a:ext cx="214312" cy="285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5300" y="6524625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Fuzzy Logic PBL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58550" y="6524625"/>
            <a:ext cx="438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919" y="3158235"/>
            <a:ext cx="41956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Space Grotesk"/>
              </a:rPr>
              <a:t>Union (OR)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587" y="4365253"/>
            <a:ext cx="399588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475569"/>
                </a:solidFill>
                <a:latin typeface="Inter"/>
              </a:rPr>
              <a:t>Selects maximum truth degree between antecedents. Used when multiple warning criteria trigger cooling.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016" y="3111847"/>
            <a:ext cx="414504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Space Grotesk"/>
              </a:rPr>
              <a:t>Intersection (AND)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7522" y="4307978"/>
            <a:ext cx="394766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475569"/>
                </a:solidFill>
                <a:latin typeface="Inter"/>
              </a:rPr>
              <a:t>Selects minimum truth degree. Core operator for combining multi-input rule antecedents in Mamdani FIS.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2858" y="3122650"/>
            <a:ext cx="261446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Space Grotesk"/>
              </a:rPr>
              <a:t>Complement (NOT)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859" y="4241766"/>
            <a:ext cx="254257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475569"/>
                </a:solidFill>
                <a:latin typeface="Inter"/>
              </a:rPr>
              <a:t>Inverts membership grade. Evaluates negation conditions, e.g., "Engine is NOT Cool".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883" y="2568922"/>
            <a:ext cx="304800" cy="3429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12015" y="2657296"/>
            <a:ext cx="304800" cy="3429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21131" y="3767062"/>
            <a:ext cx="3376166" cy="243631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72858" y="2665407"/>
            <a:ext cx="342900" cy="3429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87471" y="3758449"/>
            <a:ext cx="1971079" cy="234106"/>
          </a:xfrm>
          <a:prstGeom prst="rect">
            <a:avLst/>
          </a:prstGeom>
        </p:spPr>
      </p:pic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C7FC3BD9-FF20-D7FE-20C3-2F060F9D06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659" y="3678709"/>
            <a:ext cx="3646448" cy="624631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300" y="3845096"/>
            <a:ext cx="3424386" cy="243631"/>
          </a:xfrm>
          <a:prstGeom prst="rect">
            <a:avLst/>
          </a:prstGeom>
        </p:spPr>
      </p:pic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7EC67B57-060A-D723-C71C-FA2B8AA4F9E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0645" y="2732534"/>
            <a:ext cx="298089" cy="3129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4150" y="228600"/>
            <a:ext cx="1504950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6400800"/>
            <a:ext cx="11201400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8687" y="419100"/>
            <a:ext cx="11263312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Generalized Operators: T-Norms &amp; T-Conorms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81012"/>
            <a:ext cx="319087" cy="28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5300" y="6524625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Fuzzy Logic PBL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58550" y="6524625"/>
            <a:ext cx="438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09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85B91555-0054-CB03-2CC2-1B4D204EA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991064"/>
              </p:ext>
            </p:extLst>
          </p:nvPr>
        </p:nvGraphicFramePr>
        <p:xfrm>
          <a:off x="461913" y="1547950"/>
          <a:ext cx="11019309" cy="3074776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356076">
                  <a:extLst>
                    <a:ext uri="{9D8B030D-6E8A-4147-A177-3AD203B41FA5}">
                      <a16:colId xmlns:a16="http://schemas.microsoft.com/office/drawing/2014/main" val="1289031153"/>
                    </a:ext>
                  </a:extLst>
                </a:gridCol>
                <a:gridCol w="2290713">
                  <a:extLst>
                    <a:ext uri="{9D8B030D-6E8A-4147-A177-3AD203B41FA5}">
                      <a16:colId xmlns:a16="http://schemas.microsoft.com/office/drawing/2014/main" val="1109205474"/>
                    </a:ext>
                  </a:extLst>
                </a:gridCol>
                <a:gridCol w="2394408">
                  <a:extLst>
                    <a:ext uri="{9D8B030D-6E8A-4147-A177-3AD203B41FA5}">
                      <a16:colId xmlns:a16="http://schemas.microsoft.com/office/drawing/2014/main" val="3692881637"/>
                    </a:ext>
                  </a:extLst>
                </a:gridCol>
                <a:gridCol w="3978112">
                  <a:extLst>
                    <a:ext uri="{9D8B030D-6E8A-4147-A177-3AD203B41FA5}">
                      <a16:colId xmlns:a16="http://schemas.microsoft.com/office/drawing/2014/main" val="4158721492"/>
                    </a:ext>
                  </a:extLst>
                </a:gridCol>
              </a:tblGrid>
              <a:tr h="1122961">
                <a:tc>
                  <a:txBody>
                    <a:bodyPr/>
                    <a:lstStyle/>
                    <a:p>
                      <a:r>
                        <a:rPr lang="en-US" dirty="0"/>
                        <a:t>Family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T-Norm (Generalized AND)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T-Conorm (Generalized or)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Engineering Application </a:t>
                      </a:r>
                      <a:r>
                        <a:rPr lang="en-IN" dirty="0" err="1"/>
                        <a:t>Contex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424522"/>
                  </a:ext>
                </a:extLst>
              </a:tr>
              <a:tr h="650605">
                <a:tc>
                  <a:txBody>
                    <a:bodyPr/>
                    <a:lstStyle/>
                    <a:p>
                      <a:r>
                        <a:rPr lang="en-IN" sz="1400" dirty="0"/>
                        <a:t>Zadeh (Standard)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Standard choice for this PBL module robust, computationally fast on embedded ECUs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39748"/>
                  </a:ext>
                </a:extLst>
              </a:tr>
              <a:tr h="650605">
                <a:tc>
                  <a:txBody>
                    <a:bodyPr/>
                    <a:lstStyle/>
                    <a:p>
                      <a:r>
                        <a:rPr lang="en-IN" sz="1400" dirty="0"/>
                        <a:t>Algebraic/Probabilistic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Produces smooth output interaction surfaces: sensitive to all input fluctuations.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68659"/>
                  </a:ext>
                </a:extLst>
              </a:tr>
              <a:tr h="650605">
                <a:tc>
                  <a:txBody>
                    <a:bodyPr/>
                    <a:lstStyle/>
                    <a:p>
                      <a:r>
                        <a:rPr lang="en-IN" sz="1400" dirty="0"/>
                        <a:t>Bounded </a:t>
                      </a:r>
                      <a:r>
                        <a:rPr lang="en-IN" sz="1400"/>
                        <a:t>(Łukasiewicz)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Strict boundary control logic used in safety-critical </a:t>
                      </a:r>
                      <a:r>
                        <a:rPr lang="en-US" sz="1400" dirty="0" err="1"/>
                        <a:t>acrospace</a:t>
                      </a:r>
                      <a:r>
                        <a:rPr lang="en-US" sz="1400" dirty="0"/>
                        <a:t>/automotive systems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20867"/>
                  </a:ext>
                </a:extLst>
              </a:tr>
            </a:tbl>
          </a:graphicData>
        </a:graphic>
      </p:graphicFrame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0061" y="2706573"/>
            <a:ext cx="1073794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0061" y="3397110"/>
            <a:ext cx="393055" cy="14508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5259" y="4042232"/>
            <a:ext cx="1678185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6243" y="2706573"/>
            <a:ext cx="1105346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9103" y="3429000"/>
            <a:ext cx="742205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04624" y="4055696"/>
            <a:ext cx="1382166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4150" y="228600"/>
            <a:ext cx="1504950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6400800"/>
            <a:ext cx="11201400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2487" y="419100"/>
            <a:ext cx="11339512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Linguistic Variables &amp; Linguistic Hedges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81012"/>
            <a:ext cx="242887" cy="28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5300" y="6524625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Fuzzy Logic PBL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600" y="6524625"/>
            <a:ext cx="4191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" y="2581275"/>
            <a:ext cx="57007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Space Grotesk"/>
              </a:rPr>
              <a:t>Linguistic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" y="2800350"/>
            <a:ext cx="5429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Variables expressed in human words rather than pure numbers. In our thermal system: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7450" y="2581275"/>
            <a:ext cx="57007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Space Grotesk"/>
              </a:rPr>
              <a:t>Linguistic Hedges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7450" y="2800350"/>
            <a:ext cx="5429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Hedges modify membership functions mathematically without adding new rules: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371850"/>
            <a:ext cx="50863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Engine Temp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∈ {Cool, Normal, Hot}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767137"/>
            <a:ext cx="50863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Coolant Temp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∈ {Low, Normal, High}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162425"/>
            <a:ext cx="50863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Environmental Temp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∈ {Cold, Mild, Hot}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557712"/>
            <a:ext cx="50863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Fan Duration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∈ {Off, Short, Medium, Long}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0350" y="3371850"/>
            <a:ext cx="5086350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Concentration ("very"):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</a:t>
            </a:r>
            <a:r>
              <a:t>
</a:t>
            </a:r>
            <a:r>
              <a:rPr sz="1275" b="0" i="0" u="none">
                <a:solidFill>
                  <a:srgbClr val="64748B"/>
                </a:solidFill>
                <a:latin typeface="Inter"/>
              </a:rPr>
              <a:t>Narrows set — e.g., "Very Hot Engine" requiring immediate max cooling.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0350" y="4081462"/>
            <a:ext cx="5086350" cy="5286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Dilation ("somewhat"):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</a:t>
            </a:r>
            <a:r>
              <a:t>
</a:t>
            </a:r>
            <a:r>
              <a:rPr sz="1275" b="0" i="0" u="none">
                <a:solidFill>
                  <a:srgbClr val="64748B"/>
                </a:solidFill>
                <a:latin typeface="Inter"/>
              </a:rPr>
              <a:t>Widens set — e.g., "Somewhat High Coolant Temp".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7010" y="3319462"/>
            <a:ext cx="2281981" cy="3143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7010" y="4028141"/>
            <a:ext cx="2698700" cy="2857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3386137"/>
            <a:ext cx="219075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3781425"/>
            <a:ext cx="142875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4176712"/>
            <a:ext cx="19050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" y="4572000"/>
            <a:ext cx="19050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7450" y="3386137"/>
            <a:ext cx="171450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7450" y="4095750"/>
            <a:ext cx="1714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4150" y="228600"/>
            <a:ext cx="1504950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6400800"/>
            <a:ext cx="11201400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0587" y="419100"/>
            <a:ext cx="11301412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Mamdani vs. Sugeno (TSK) Inference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81012"/>
            <a:ext cx="280987" cy="28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5300" y="6524625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Fuzzy Logic PBL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6175" y="6524625"/>
            <a:ext cx="3905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5300" y="2381250"/>
          <a:ext cx="11191873" cy="2771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5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4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1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Aspect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Mamdani Inference (Used in this Module)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Sugeno / TSK Inference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Rule Consequent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Fuzzy set membership curve</a:t>
                      </a:r>
                      <a:r>
                        <a:t>
</a:t>
                      </a:r>
                      <a:r>
                        <a:rPr sz="1200" b="0" i="1" u="none">
                          <a:solidFill>
                            <a:srgbClr val="334155"/>
                          </a:solidFill>
                          <a:latin typeface="Inter"/>
                        </a:rPr>
                        <a:t>("THEN Fan Duration is LONG")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Mathematical function of inputs</a:t>
                      </a:r>
                      <a:r>
                        <a:t>
</a:t>
                      </a:r>
                      <a:r>
                        <a:rPr sz="1200" b="0" i="1" u="none">
                          <a:solidFill>
                            <a:srgbClr val="334155"/>
                          </a:solidFill>
                          <a:latin typeface="Inter"/>
                        </a:rPr>
                        <a:t>("THEN Duration = 0.5·E_Temp + 0.3·C_Temp")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Output State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Fuzzy region requiring full aggregation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Crisp value per rule (weighted average sum)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Interpretability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Very High — Expert human readable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Moderate — Mathematical equation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Computation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Integration across output space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Fast linear algebraic evaluation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0062" y="2867025"/>
            <a:ext cx="21355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35597" y="2867025"/>
            <a:ext cx="41844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20048" y="2867025"/>
            <a:ext cx="48718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0062" y="3600450"/>
            <a:ext cx="21355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35597" y="3600450"/>
            <a:ext cx="41844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20048" y="3600450"/>
            <a:ext cx="48718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0062" y="4105275"/>
            <a:ext cx="21355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35597" y="4105275"/>
            <a:ext cx="41844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20048" y="4105275"/>
            <a:ext cx="48718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0062" y="4633912"/>
            <a:ext cx="21355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35597" y="4633912"/>
            <a:ext cx="41844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20048" y="4633912"/>
            <a:ext cx="48718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0062" y="5138737"/>
            <a:ext cx="21355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635597" y="5138737"/>
            <a:ext cx="41844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20048" y="5138737"/>
            <a:ext cx="48718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5389" y="4210050"/>
            <a:ext cx="876300" cy="242887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0048" y="4210860"/>
            <a:ext cx="800100" cy="2428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6400800"/>
            <a:ext cx="11201400" cy="266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475" y="2233612"/>
            <a:ext cx="1543050" cy="314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65383" y="2662237"/>
            <a:ext cx="9861232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Space Grotesk"/>
              </a:rPr>
              <a:t>Designing the Smart Engine Cooling FIS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3671887"/>
            <a:ext cx="76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24125" y="3938587"/>
            <a:ext cx="7143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Inter"/>
              </a:rPr>
              <a:t>Comprehensive 6-Step Implementation: Input Temperature Telemetry → Fuzzy Rule Engine → Actuator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" y="6524625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Fuzzy Logic PBL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87125" y="6524625"/>
            <a:ext cx="4095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150" y="228600"/>
            <a:ext cx="1123950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6400800"/>
            <a:ext cx="11201400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0587" y="419100"/>
            <a:ext cx="11301412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Identify Linguistic Variables &amp; Terms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81012"/>
            <a:ext cx="280987" cy="28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5300" y="6524625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Fuzzy Logic PBL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87125" y="6524625"/>
            <a:ext cx="4095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5300" y="2459831"/>
          <a:ext cx="11191872" cy="2614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5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0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0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292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Variable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Universe of Discourse (X)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Linguistic Terms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Unit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92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Engine Temperature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Input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0 to 120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Cool, Normal, Hot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92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Coolant Temperature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Input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0 to 120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Low, Normal, 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92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Environmental Temp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Input 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0 to 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Cold, Mild, Hot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924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Radiator Fan Duration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Output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0 to 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Off, Short, Medium, Long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Minutes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0062" y="2945606"/>
            <a:ext cx="2687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87303" y="2945606"/>
            <a:ext cx="14574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44776" y="2945606"/>
            <a:ext cx="28759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20731" y="2945606"/>
            <a:ext cx="29409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461724" y="2945606"/>
            <a:ext cx="12302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0062" y="3474243"/>
            <a:ext cx="2687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87303" y="3474243"/>
            <a:ext cx="14574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44776" y="3474243"/>
            <a:ext cx="28759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20731" y="3474243"/>
            <a:ext cx="29409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461724" y="3474243"/>
            <a:ext cx="12302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0062" y="4002881"/>
            <a:ext cx="2687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87303" y="4002881"/>
            <a:ext cx="14574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44776" y="4002881"/>
            <a:ext cx="28759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20731" y="4002881"/>
            <a:ext cx="29409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461724" y="4002881"/>
            <a:ext cx="12302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0062" y="4531518"/>
            <a:ext cx="2687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187303" y="4531518"/>
            <a:ext cx="14574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44776" y="4531518"/>
            <a:ext cx="28759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520731" y="4531518"/>
            <a:ext cx="29409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461724" y="4531518"/>
            <a:ext cx="12302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0062" y="5060156"/>
            <a:ext cx="2687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187303" y="5060156"/>
            <a:ext cx="14574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44776" y="5060156"/>
            <a:ext cx="28759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520731" y="5060156"/>
            <a:ext cx="29409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461724" y="5060156"/>
            <a:ext cx="12302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7302" y="3114675"/>
            <a:ext cx="723900" cy="242887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7302" y="3650456"/>
            <a:ext cx="723900" cy="242887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7302" y="4169568"/>
            <a:ext cx="723900" cy="242887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0929" y="4688681"/>
            <a:ext cx="647700" cy="2428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5950" y="228600"/>
            <a:ext cx="2343150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6400800"/>
            <a:ext cx="1120140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957387"/>
            <a:ext cx="542925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0587" y="419100"/>
            <a:ext cx="11301412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Membership Functions: Engine Temperature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481012"/>
            <a:ext cx="280987" cy="2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5300" y="6524625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Fuzzy Logic PBL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600" y="6524625"/>
            <a:ext cx="4191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" y="1957387"/>
            <a:ext cx="5429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Engine Temperature ranges from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0°C to 120°C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. Fuzzified into 3 triangular/trapezoidal linguistic sets: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5300" y="2566987"/>
          <a:ext cx="5419724" cy="2085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8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03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1493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Term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Parameters (a, b, 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Range (°C)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493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Cool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a=0, b=0, c=70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0°C – 70°C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493"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Normal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a=50, b=80, c=100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50°C – 100°C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496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Hot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a=85, b=115, c=120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85°C – 120°C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1966912"/>
            <a:ext cx="5410200" cy="36004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0062" y="3052762"/>
            <a:ext cx="13108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810940" y="3052762"/>
            <a:ext cx="23584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9419" y="3052762"/>
            <a:ext cx="17503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0062" y="3581400"/>
            <a:ext cx="13108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810940" y="3581400"/>
            <a:ext cx="23584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69419" y="3581400"/>
            <a:ext cx="17503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0062" y="4110037"/>
            <a:ext cx="13108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810940" y="4110037"/>
            <a:ext cx="23584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69419" y="4110037"/>
            <a:ext cx="17503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0062" y="4638675"/>
            <a:ext cx="13108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10940" y="4638675"/>
            <a:ext cx="23584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69419" y="4638675"/>
            <a:ext cx="17503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637" y="3228976"/>
            <a:ext cx="495300" cy="242887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356" y="3738562"/>
            <a:ext cx="647700" cy="242887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637" y="4271962"/>
            <a:ext cx="419100" cy="24288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5950" y="228600"/>
            <a:ext cx="2343150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6400800"/>
            <a:ext cx="11201400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3912" y="419100"/>
            <a:ext cx="1136808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Membership Functions: Coolant Temperature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81012"/>
            <a:ext cx="214312" cy="28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5300" y="6524625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Fuzzy Logic PBL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87125" y="6524625"/>
            <a:ext cx="4095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" y="2214562"/>
            <a:ext cx="5429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Coolant Temperature measures direct thermal energy in the engine fluid loop across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0°C to 120°C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5300" y="2824162"/>
          <a:ext cx="5419724" cy="249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5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6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7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388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Term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Parameters (a, b, 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Interpretation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887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a=0, b=0, c=60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Cold start fluid state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887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Normal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a=40, b=75, c=95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Optimal thermal operational loop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889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a=80, b=110, c=120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Coolant heat saturation threat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0062" y="3309937"/>
            <a:ext cx="9953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95425" y="3309937"/>
            <a:ext cx="17664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61866" y="3309937"/>
            <a:ext cx="26579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10350" y="2405062"/>
            <a:ext cx="50863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Overlap Region: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Between 80°C and 95°C, coolant belongs to both </a:t>
            </a:r>
            <a:r>
              <a:rPr sz="1275" b="0" i="1" u="none">
                <a:solidFill>
                  <a:srgbClr val="0284C7"/>
                </a:solidFill>
                <a:latin typeface="Inter"/>
              </a:rPr>
              <a:t>Normal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and </a:t>
            </a:r>
            <a:r>
              <a:rPr sz="1275" b="0" i="1" u="none">
                <a:solidFill>
                  <a:srgbClr val="0284C7"/>
                </a:solidFill>
                <a:latin typeface="Inter"/>
              </a:rPr>
              <a:t>High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0350" y="3043237"/>
            <a:ext cx="50863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Safety Cushion: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Prevents premature fan shutdown while thermal fluid remains saturated.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62" y="3838575"/>
            <a:ext cx="9953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495425" y="3838575"/>
            <a:ext cx="17664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61866" y="3838575"/>
            <a:ext cx="26579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0062" y="4572000"/>
            <a:ext cx="9953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495425" y="4572000"/>
            <a:ext cx="17664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61866" y="4572000"/>
            <a:ext cx="26579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0062" y="5305425"/>
            <a:ext cx="9953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495425" y="5305425"/>
            <a:ext cx="17664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61866" y="5305425"/>
            <a:ext cx="26579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2419350"/>
            <a:ext cx="190500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7450" y="3057525"/>
            <a:ext cx="190500" cy="2000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537" y="3626644"/>
            <a:ext cx="419100" cy="242887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" y="4279106"/>
            <a:ext cx="647700" cy="242887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443" y="4895850"/>
            <a:ext cx="495300" cy="24288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5950" y="228600"/>
            <a:ext cx="2343150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6400800"/>
            <a:ext cx="11201400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6787" y="419100"/>
            <a:ext cx="11225212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Membership Functions: Environmental Temperature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81012"/>
            <a:ext cx="357187" cy="28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5300" y="6524625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Fuzzy Logic PBL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87125" y="6524625"/>
            <a:ext cx="4095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" y="2419350"/>
            <a:ext cx="5429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Ambient outdoor weather temperature across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0°C to 50°C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directly alters ambient convective cooling rates: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5300" y="3028950"/>
          <a:ext cx="5419724" cy="2085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3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6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9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1493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Term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Parameters (a, b, 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Ambient Condition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493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Cold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a=0, b=0, c=20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Winter weather (≤ 20°C)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493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Mild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a=10, b=25, c=38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Moderate climate (10°C–38°C)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496"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Hot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a=30, b=50, c=50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Scorching heat (≥ 30°C)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0062" y="3514725"/>
            <a:ext cx="893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93180" y="3514725"/>
            <a:ext cx="18267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19896" y="3514725"/>
            <a:ext cx="2699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10350" y="2609850"/>
            <a:ext cx="50863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Convective Impact: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High environmental heat impairs natural radiator heat dissipation, demanding longer active fan assistance.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62" y="4043362"/>
            <a:ext cx="893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393180" y="4043362"/>
            <a:ext cx="18267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19896" y="4043362"/>
            <a:ext cx="2699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0062" y="4572000"/>
            <a:ext cx="893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393180" y="4572000"/>
            <a:ext cx="18267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19896" y="4572000"/>
            <a:ext cx="2699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0062" y="5100637"/>
            <a:ext cx="893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393180" y="5100637"/>
            <a:ext cx="18267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19896" y="5100637"/>
            <a:ext cx="2699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2624137"/>
            <a:ext cx="19050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" y="3719513"/>
            <a:ext cx="495300" cy="242887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537" y="4210050"/>
            <a:ext cx="495300" cy="242887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" y="4731422"/>
            <a:ext cx="419100" cy="24288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550" y="228600"/>
            <a:ext cx="2876550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6400800"/>
            <a:ext cx="112014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0587" y="419100"/>
            <a:ext cx="11301412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Output Variable: Radiator Fan Duration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81012"/>
            <a:ext cx="280987" cy="2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5300" y="6524625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Fuzzy Logic PBL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87125" y="6524625"/>
            <a:ext cx="4095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" y="1957387"/>
            <a:ext cx="5429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Actuator control output determining fan run-time from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0 to 30 minutes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5300" y="2338387"/>
          <a:ext cx="5419724" cy="2614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5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3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92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Output Term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Parameters (a, b, 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Peak Center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922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Off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a=0, b=0, c=5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0 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922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Short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a=3, b=8, c=15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8 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922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a=10, b=18, c=25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18 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924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Long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a=20, b=28, c=30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28 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0062" y="2824162"/>
            <a:ext cx="16009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101006" y="2824162"/>
            <a:ext cx="22550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56050" y="2824162"/>
            <a:ext cx="15637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0062" y="3352800"/>
            <a:ext cx="16009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101006" y="3352800"/>
            <a:ext cx="22550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56050" y="3352800"/>
            <a:ext cx="15637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0062" y="3881437"/>
            <a:ext cx="16009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01006" y="3881437"/>
            <a:ext cx="22550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56050" y="3881437"/>
            <a:ext cx="15637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0062" y="4410075"/>
            <a:ext cx="16009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101006" y="4410075"/>
            <a:ext cx="22550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56050" y="4410075"/>
            <a:ext cx="15637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0062" y="4938712"/>
            <a:ext cx="16009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101006" y="4938712"/>
            <a:ext cx="22550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56050" y="4938712"/>
            <a:ext cx="15637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537" y="3007518"/>
            <a:ext cx="419100" cy="242887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" y="3509962"/>
            <a:ext cx="571500" cy="242887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537" y="4038600"/>
            <a:ext cx="647700" cy="242887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" y="4576762"/>
            <a:ext cx="495300" cy="242887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309360" y="1874519"/>
            <a:ext cx="52120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B4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29400" y="21488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42D4B"/>
                </a:solidFill>
              </a:defRPr>
            </a:pPr>
            <a:r>
              <a:t>Radiator Fan Control</a:t>
            </a:r>
          </a:p>
        </p:txBody>
      </p:sp>
      <p:sp>
        <p:nvSpPr>
          <p:cNvPr id="33" name="Oval 32"/>
          <p:cNvSpPr/>
          <p:nvPr/>
        </p:nvSpPr>
        <p:spPr>
          <a:xfrm>
            <a:off x="8001000" y="2743200"/>
            <a:ext cx="1828800" cy="1828800"/>
          </a:xfrm>
          <a:prstGeom prst="ellipse">
            <a:avLst/>
          </a:prstGeom>
          <a:solidFill>
            <a:srgbClr val="E1E8F0"/>
          </a:solidFill>
          <a:ln>
            <a:solidFill>
              <a:srgbClr val="465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275320" y="2971800"/>
            <a:ext cx="502920" cy="1234440"/>
          </a:xfrm>
          <a:prstGeom prst="roundRect">
            <a:avLst/>
          </a:prstGeom>
          <a:solidFill>
            <a:srgbClr val="91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 rot="5400000">
            <a:off x="8641080" y="2971800"/>
            <a:ext cx="502920" cy="1234440"/>
          </a:xfrm>
          <a:prstGeom prst="roundRect">
            <a:avLst/>
          </a:prstGeom>
          <a:solidFill>
            <a:srgbClr val="91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 rot="10800000">
            <a:off x="8275320" y="3337560"/>
            <a:ext cx="502920" cy="1234440"/>
          </a:xfrm>
          <a:prstGeom prst="roundRect">
            <a:avLst/>
          </a:prstGeom>
          <a:solidFill>
            <a:srgbClr val="91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 rot="16200000">
            <a:off x="7909560" y="2971800"/>
            <a:ext cx="502920" cy="1234440"/>
          </a:xfrm>
          <a:prstGeom prst="roundRect">
            <a:avLst/>
          </a:prstGeom>
          <a:solidFill>
            <a:srgbClr val="91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659368" y="3401568"/>
            <a:ext cx="502920" cy="502920"/>
          </a:xfrm>
          <a:prstGeom prst="ellipse">
            <a:avLst/>
          </a:prstGeom>
          <a:solidFill>
            <a:srgbClr val="3C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29400" y="480060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Fuzzy Controller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4040" y="4572000"/>
            <a:ext cx="1737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Fan ON / OFF</a:t>
            </a:r>
            <a:br/>
            <a:r>
              <a:t>+ operating duration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5166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46505F"/>
                </a:solidFill>
              </a:defRPr>
            </a:pPr>
            <a:r>
              <a:t>Output: Fan duration from 0 to 30 minutes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0" y="228600"/>
            <a:ext cx="2419350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6400800"/>
            <a:ext cx="11201400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2487" y="419100"/>
            <a:ext cx="11339512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Fuzzy IF-THEN Rule Base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81012"/>
            <a:ext cx="242887" cy="28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5300" y="6524625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Fuzzy Logic PBL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87125" y="6524625"/>
            <a:ext cx="4095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5300" y="1402556"/>
          <a:ext cx="11191873" cy="4729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2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5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08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620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46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Rule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Engine Temp (IF)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Coolant Temp (AND)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Env Temp (AND)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Radiator Fan Duration (THEN)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46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R1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Hot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Hot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Long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46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R2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Hot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Mild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Long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46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R3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Hot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Normal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Hot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46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R4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Normal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Hot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46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R5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Normal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Normal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Mild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Short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46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R6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Cool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Cold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Off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46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R7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Normal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Cold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Off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5466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R8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Cool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Hot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Short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0062" y="1888331"/>
            <a:ext cx="11611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61219" y="1888331"/>
            <a:ext cx="21324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93628" y="1888331"/>
            <a:ext cx="24854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79058" y="1888331"/>
            <a:ext cx="2050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29910" y="1888331"/>
            <a:ext cx="33620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0062" y="2416968"/>
            <a:ext cx="11611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61219" y="2416968"/>
            <a:ext cx="21324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793628" y="2416968"/>
            <a:ext cx="24854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79058" y="2416968"/>
            <a:ext cx="2050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29910" y="2416968"/>
            <a:ext cx="33620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0062" y="2945606"/>
            <a:ext cx="11611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661219" y="2945606"/>
            <a:ext cx="21324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793628" y="2945606"/>
            <a:ext cx="24854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79058" y="2945606"/>
            <a:ext cx="2050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29910" y="2945606"/>
            <a:ext cx="33620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0062" y="3474243"/>
            <a:ext cx="11611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661219" y="3474243"/>
            <a:ext cx="21324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793628" y="3474243"/>
            <a:ext cx="24854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79058" y="3474243"/>
            <a:ext cx="2050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329910" y="3474243"/>
            <a:ext cx="33620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0062" y="4002881"/>
            <a:ext cx="11611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661219" y="4002881"/>
            <a:ext cx="21324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793628" y="4002881"/>
            <a:ext cx="24854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79058" y="4002881"/>
            <a:ext cx="2050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329910" y="4002881"/>
            <a:ext cx="33620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0062" y="4531518"/>
            <a:ext cx="11611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661219" y="4531518"/>
            <a:ext cx="21324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793628" y="4531518"/>
            <a:ext cx="24854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79058" y="4531518"/>
            <a:ext cx="2050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329910" y="4531518"/>
            <a:ext cx="33620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00062" y="5060156"/>
            <a:ext cx="11611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661219" y="5060156"/>
            <a:ext cx="21324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793628" y="5060156"/>
            <a:ext cx="24854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79058" y="5060156"/>
            <a:ext cx="2050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329910" y="5060156"/>
            <a:ext cx="33620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00062" y="5588793"/>
            <a:ext cx="11611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661219" y="5588793"/>
            <a:ext cx="21324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793628" y="5588793"/>
            <a:ext cx="24854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279058" y="5588793"/>
            <a:ext cx="2050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329910" y="5588793"/>
            <a:ext cx="33620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00062" y="6117431"/>
            <a:ext cx="11611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661219" y="6117431"/>
            <a:ext cx="21324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793628" y="6117431"/>
            <a:ext cx="24854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279058" y="6117431"/>
            <a:ext cx="2050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329910" y="6117431"/>
            <a:ext cx="33620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9909" y="2100262"/>
            <a:ext cx="495300" cy="242887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9909" y="2593880"/>
            <a:ext cx="495300" cy="242887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9864" y="3121767"/>
            <a:ext cx="647700" cy="242887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9864" y="3658791"/>
            <a:ext cx="647700" cy="242887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0014" y="4160043"/>
            <a:ext cx="571500" cy="242887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9864" y="4705349"/>
            <a:ext cx="419100" cy="242887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9864" y="5198269"/>
            <a:ext cx="419100" cy="242887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30014" y="5744432"/>
            <a:ext cx="571500" cy="242887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41996" y="6140577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6505F"/>
                </a:solidFill>
              </a:defRPr>
            </a:pPr>
            <a:r>
              <a:rPr dirty="0"/>
              <a:t>Note: The 8 rules shown are representative core rules for the worked example. A complete deployment should ensure coverage of all relevant input combinations.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0" y="228600"/>
            <a:ext cx="2038350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6400800"/>
            <a:ext cx="1120140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2591990"/>
            <a:ext cx="3178224" cy="23502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2124" y="2591990"/>
            <a:ext cx="3641228" cy="235029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1953" y="2591990"/>
            <a:ext cx="3924746" cy="235029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3896915"/>
            <a:ext cx="2625774" cy="61510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8349" y="3896915"/>
            <a:ext cx="3088778" cy="64368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8178" y="3896915"/>
            <a:ext cx="3372296" cy="6548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2487" y="419100"/>
            <a:ext cx="11339512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Fuzzy Inference: The Mamdani Method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" y="481012"/>
            <a:ext cx="242887" cy="285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5300" y="6524625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Fuzzy Logic PBL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87125" y="6524625"/>
            <a:ext cx="4095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2868215"/>
            <a:ext cx="275706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1. Antecedent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3211115"/>
            <a:ext cx="262577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Read membership degrees for all inputs from live sensor values.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349" y="2868215"/>
            <a:ext cx="324321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2. Operator Evaluation (AND)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349" y="3211115"/>
            <a:ext cx="308877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Combine multiple antecedents using minimum function (Zadeh T-norm):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8178" y="2868215"/>
            <a:ext cx="3540911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3. Implication / Clipping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8178" y="3211115"/>
            <a:ext cx="33722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Truncate output term membership curve at rule firing strength </a:t>
            </a:r>
            <a:r>
              <a:rPr sz="1200" b="0" i="1" u="none">
                <a:solidFill>
                  <a:srgbClr val="334155"/>
                </a:solidFill>
                <a:latin typeface="Inter"/>
              </a:rPr>
              <a:t>w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: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6596" y="4087415"/>
            <a:ext cx="1513730" cy="234106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83149" y="4087415"/>
            <a:ext cx="2517278" cy="262681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2978" y="4087415"/>
            <a:ext cx="2800796" cy="27384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0" y="228600"/>
            <a:ext cx="2038350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6400800"/>
            <a:ext cx="11201400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0587" y="419100"/>
            <a:ext cx="11301412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Fuzzify Live Sensor Readings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81012"/>
            <a:ext cx="280987" cy="28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52625" y="2212181"/>
            <a:ext cx="82867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Live Telemetry Snapshot: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Engine Temp = 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92°C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| Coolant Temp = 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88°C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| Environmental Temp = 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35°C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" y="6524625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Fuzzy Logic PBL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58550" y="6524625"/>
            <a:ext cx="438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974017"/>
              </p:ext>
            </p:extLst>
          </p:nvPr>
        </p:nvGraphicFramePr>
        <p:xfrm>
          <a:off x="504827" y="2469356"/>
          <a:ext cx="11191873" cy="2747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9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1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46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5084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Sensor Reading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FFFFFF"/>
                          </a:solidFill>
                          <a:latin typeface="Space Grotesk SemiBold"/>
                        </a:rPr>
                        <a:t>Linguistic Term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FFFFFF"/>
                          </a:solidFill>
                          <a:latin typeface="Space Grotesk SemiBold"/>
                        </a:rPr>
                        <a:t>Calculation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FFFFFF"/>
                          </a:solidFill>
                          <a:latin typeface="Space Grotesk SemiBold"/>
                        </a:rPr>
                        <a:t>Membership Degree (</a:t>
                      </a:r>
                      <a:r>
                        <a:rPr lang="el-GR" sz="1125" b="0" i="0" u="none" dirty="0">
                          <a:solidFill>
                            <a:srgbClr val="FFFFFF"/>
                          </a:solidFill>
                          <a:latin typeface="Space Grotesk SemiBold"/>
                        </a:rPr>
                        <a:t>μ</a:t>
                      </a:r>
                      <a:r>
                        <a:rPr sz="1125" b="0" i="0" u="none" dirty="0">
                          <a:solidFill>
                            <a:srgbClr val="FFFFFF"/>
                          </a:solidFill>
                          <a:latin typeface="Space Grotesk SemiBold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084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Engine Temp = 92°C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Normal (50, 80, 100)</a:t>
                      </a:r>
                      <a:r>
                        <a:rPr lang="en-IN" dirty="0"/>
                        <a:t>
</a:t>
                      </a:r>
                      <a:r>
                        <a:rPr lang="en-IN"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
        </a:t>
                      </a:r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Hot (85, 115, 120)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(100 - 92) / (100 - 80)</a:t>
                      </a:r>
                      <a:r>
                        <a:t>
</a:t>
                      </a:r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
         (92 - 85) / (115 - 85)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0.400</a:t>
                      </a:r>
                      <a:r>
                        <a:t>
</a:t>
                      </a:r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0.233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5084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Coolant Temp = 88°C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Normal (40, 75, 95)</a:t>
                      </a:r>
                      <a:r>
                        <a:t>
</a:t>
                      </a:r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
         High (80, 110, 120)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(95 - 88) / (95 - 75)</a:t>
                      </a:r>
                      <a:r>
                        <a:t>
</a:t>
                      </a:r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
         (88 - 80) / (110 - 80)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0.350</a:t>
                      </a:r>
                      <a:r>
                        <a:t>
</a:t>
                      </a:r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0.267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508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Environmental = 35°C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Mild (10, 25, 38)</a:t>
                      </a:r>
                      <a:r>
                        <a:t>
</a:t>
                      </a:r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
         Hot (30, 50, 50)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(38 - 35) / (38 - 25)</a:t>
                      </a:r>
                      <a:r>
                        <a:t>
</a:t>
                      </a:r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
         (35 - 30) / (50 - 30)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0.231</a:t>
                      </a:r>
                      <a:r>
                        <a:rPr dirty="0"/>
                        <a:t>
</a:t>
                      </a:r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0.250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0" y="228600"/>
            <a:ext cx="2038350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6400800"/>
            <a:ext cx="11201400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2487" y="419100"/>
            <a:ext cx="11339512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Evaluate Firing Rules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81012"/>
            <a:ext cx="242887" cy="28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5300" y="6524625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Fuzzy Logic PBL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87125" y="6524625"/>
            <a:ext cx="4095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20572"/>
              </p:ext>
            </p:extLst>
          </p:nvPr>
        </p:nvGraphicFramePr>
        <p:xfrm>
          <a:off x="495300" y="1757362"/>
          <a:ext cx="11191873" cy="4019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2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1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88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992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Rule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Antecedent Calculation (AND → min)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Firing Strength (w)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Clipped Output Term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R1:</a:t>
                      </a:r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 Hot AND High AND Hot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min(μ_Hot: 0.233, μ_High: 0.267, μ_HotEnv: 0.250)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0.233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Long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R2:</a:t>
                      </a:r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 Hot AND High AND Mild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min(μ_Hot: 0.233, μ_High: 0.267, μ_MildEnv: 0.231)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0.231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Long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R3:</a:t>
                      </a:r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 Hot AND Normal AND Hot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min(μ_Hot: 0.233, μ_NormCool: 0.350, μ_HotEnv: 0.250)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0.233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R4:</a:t>
                      </a:r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 Normal AND High AND Hot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min(μ_NormEng: 0.400, μ_High: 0.267, μ_HotEnv: 0.250)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0.250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Medium 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R5:</a:t>
                      </a:r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 Normal AND Normal AND Mild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min(μ_NormEng: 0.400, μ_NormCool: 0.350, μ_MildEnv: 0.231)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0.231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Short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0062" y="2457450"/>
            <a:ext cx="26025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02619" y="2457450"/>
            <a:ext cx="44713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74012" y="2457450"/>
            <a:ext cx="15790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53078" y="2457450"/>
            <a:ext cx="25388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0062" y="2986087"/>
            <a:ext cx="26025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02619" y="2986087"/>
            <a:ext cx="44713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74012" y="2986087"/>
            <a:ext cx="15790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53078" y="2986087"/>
            <a:ext cx="25388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0062" y="3743325"/>
            <a:ext cx="26025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02619" y="3743325"/>
            <a:ext cx="44713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574012" y="3743325"/>
            <a:ext cx="15790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53078" y="3743325"/>
            <a:ext cx="25388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0062" y="4271962"/>
            <a:ext cx="26025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102619" y="4271962"/>
            <a:ext cx="44713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74012" y="4271962"/>
            <a:ext cx="15790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53078" y="4271962"/>
            <a:ext cx="25388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0062" y="5029200"/>
            <a:ext cx="26025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102619" y="5029200"/>
            <a:ext cx="44713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574012" y="5029200"/>
            <a:ext cx="15790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53078" y="5029200"/>
            <a:ext cx="25388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0062" y="5762625"/>
            <a:ext cx="26025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102619" y="5762625"/>
            <a:ext cx="44713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574012" y="5762625"/>
            <a:ext cx="15790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53078" y="5762625"/>
            <a:ext cx="25388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3078" y="2663429"/>
            <a:ext cx="495300" cy="242887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3078" y="3336131"/>
            <a:ext cx="495300" cy="242887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3050" y="3974306"/>
            <a:ext cx="647700" cy="242887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3078" y="4636294"/>
            <a:ext cx="647700" cy="242887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3078" y="5355432"/>
            <a:ext cx="571500" cy="24288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0350" y="228600"/>
            <a:ext cx="1428750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6400800"/>
            <a:ext cx="1120140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2588865"/>
            <a:ext cx="6553646" cy="235654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846" y="2588865"/>
            <a:ext cx="4304853" cy="235654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5" y="3836640"/>
            <a:ext cx="5963096" cy="68341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7121" y="3836640"/>
            <a:ext cx="3714303" cy="6991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3912" y="419100"/>
            <a:ext cx="1136808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Aggregation &amp; Defuzzification Theory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481012"/>
            <a:ext cx="214312" cy="285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5300" y="6524625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Fuzzy Logic PBL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68075" y="6524625"/>
            <a:ext cx="428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" y="2884140"/>
            <a:ext cx="626125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Space Grotesk"/>
              </a:rPr>
              <a:t>Step 5: Aggregation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575" y="3265140"/>
            <a:ext cx="5963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Merges all fired rule output shapes into a single combined fuzzy set using maximum operator: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7121" y="2884140"/>
            <a:ext cx="390001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Space Grotesk"/>
              </a:rPr>
              <a:t>Step 6: Defuzzification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7121" y="3265140"/>
            <a:ext cx="37143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/>
              <a:t>Converts the aggregated fuzzy output into a crisp fan run-time using Centroid Defuzzification: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375" y="4027140"/>
            <a:ext cx="5391596" cy="302418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2417" y="4027140"/>
            <a:ext cx="1401812" cy="31819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0" y="228600"/>
            <a:ext cx="2038350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6400800"/>
            <a:ext cx="112014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2487" y="419100"/>
            <a:ext cx="11339512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Aggregate Outputs &amp; Defuzzify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81012"/>
            <a:ext cx="242887" cy="2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5300" y="6524625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Fuzzy Logic PBL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68075" y="6524625"/>
            <a:ext cx="428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384048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5400" b="1">
                <a:solidFill>
                  <a:srgbClr val="1478BE"/>
                </a:solidFill>
              </a:defRPr>
            </a:pPr>
            <a:r>
              <a:t>16.72</a:t>
            </a:r>
          </a:p>
          <a:p>
            <a:pPr algn="ctr">
              <a:defRPr sz="1900" b="1">
                <a:solidFill>
                  <a:srgbClr val="414B5A"/>
                </a:solidFill>
              </a:defRPr>
            </a:pPr>
            <a:r>
              <a:t>minutes fan run-time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374903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42D4B"/>
                </a:solidFill>
              </a:defRPr>
            </a:pPr>
            <a:r>
              <a:t>Worked example</a:t>
            </a:r>
          </a:p>
          <a:p>
            <a:pPr algn="ctr">
              <a:defRPr sz="1300">
                <a:solidFill>
                  <a:srgbClr val="46505F"/>
                </a:solidFill>
              </a:defRPr>
            </a:pPr>
            <a:r>
              <a:t>Engine 92°C  |  Coolant 88°C  |  Ambient 35°C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617720" y="1417320"/>
          <a:ext cx="6903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Output term</a:t>
                      </a:r>
                    </a:p>
                  </a:txBody>
                  <a:tcPr>
                    <a:solidFill>
                      <a:srgbClr val="0F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Firing strength</a:t>
                      </a:r>
                    </a:p>
                  </a:txBody>
                  <a:tcPr>
                    <a:solidFill>
                      <a:srgbClr val="0F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Peak center</a:t>
                      </a:r>
                    </a:p>
                  </a:txBody>
                  <a:tcPr>
                    <a:solidFill>
                      <a:srgbClr val="0F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D3C"/>
                          </a:solidFill>
                        </a:defRPr>
                      </a:pPr>
                      <a:r>
                        <a:t>Short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D3C"/>
                          </a:solidFill>
                        </a:defRPr>
                      </a:pPr>
                      <a:r>
                        <a:t>0.231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D3C"/>
                          </a:solidFill>
                        </a:defRPr>
                      </a:pPr>
                      <a:r>
                        <a:t>8 min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D3C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D3C"/>
                          </a:solidFill>
                        </a:defRPr>
                      </a:pPr>
                      <a:r>
                        <a:t>0.250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D3C"/>
                          </a:solidFill>
                        </a:defRPr>
                      </a:pPr>
                      <a:r>
                        <a:t>18 min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D3C"/>
                          </a:solidFill>
                        </a:defRPr>
                      </a:pPr>
                      <a:r>
                        <a:t>Long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D3C"/>
                          </a:solidFill>
                        </a:defRPr>
                      </a:pPr>
                      <a:r>
                        <a:t>0.233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D3C"/>
                          </a:solidFill>
                        </a:defRPr>
                      </a:pPr>
                      <a:r>
                        <a:t>28 min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663440" y="4434840"/>
            <a:ext cx="6812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42D4B"/>
                </a:solidFill>
              </a:defRPr>
            </a:pPr>
            <a:r>
              <a:t>Centroid:  y* = ∫ y μagg(y)dy / ∫ μagg(y)dy  ≈ 16.72 min</a:t>
            </a:r>
          </a:p>
          <a:p>
            <a:pPr algn="ctr">
              <a:defRPr sz="1200">
                <a:solidFill>
                  <a:srgbClr val="46505F"/>
                </a:solidFill>
              </a:defRPr>
            </a:pPr>
            <a:r>
              <a:t>Aggregated clipped output: Short 0.231, Medium 0.250, Long 0.233.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1480" y="5577840"/>
            <a:ext cx="374903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4632"/>
                </a:solidFill>
              </a:defRPr>
            </a:pPr>
            <a:r>
              <a:rPr dirty="0"/>
              <a:t>Important correction</a:t>
            </a:r>
          </a:p>
          <a:p>
            <a:pPr algn="ctr">
              <a:defRPr sz="1150">
                <a:solidFill>
                  <a:srgbClr val="46505F"/>
                </a:solidFill>
              </a:defRPr>
            </a:pPr>
            <a:r>
              <a:rPr dirty="0"/>
              <a:t>19.79 min was a weighted peak average, not the true Mamdani centroid. The corrected centroid result is 16.72 min.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0" y="228600"/>
            <a:ext cx="1657350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6400800"/>
            <a:ext cx="1120140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2633662"/>
            <a:ext cx="3581400" cy="2266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5300" y="2633662"/>
            <a:ext cx="3581400" cy="2266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5300" y="2633662"/>
            <a:ext cx="3581400" cy="2266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3912" y="419100"/>
            <a:ext cx="1136808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Why Fuzzy Logic Suits Engine Cooling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481012"/>
            <a:ext cx="214312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5300" y="6524625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Fuzzy Logic PBL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58550" y="6524625"/>
            <a:ext cx="438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3481387"/>
            <a:ext cx="318039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Prevents Thermal Shock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3824287"/>
            <a:ext cx="30289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/>
              <a:t>Reduces abrupt ON/OFF decisions by varying the commanded fan operating duration according to thermal conditions.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3481387"/>
            <a:ext cx="318039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Energy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525" y="3824287"/>
            <a:ext cx="30289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/>
              <a:t>Can reduce unnecessary fan operation by adapting the commanded duration to engine, coolant, and ambient temperatures.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481387"/>
            <a:ext cx="318039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Multi-Sensor Tradeoffs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3824287"/>
            <a:ext cx="30289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Balances competing inputs automatically (e.g., hot engine vs. cold ambient air on a highway drop).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2947987"/>
            <a:ext cx="342900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1525" y="2947987"/>
            <a:ext cx="342900" cy="3429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1525" y="2947987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4150" y="228600"/>
            <a:ext cx="1504950" cy="285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6400800"/>
            <a:ext cx="11201400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0587" y="419100"/>
            <a:ext cx="11301412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PBL Activity: Extend the Engine Cooling FIS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81012"/>
            <a:ext cx="280987" cy="28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5300" y="6524625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Fuzzy Logic PBL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8075" y="6524625"/>
            <a:ext cx="428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733675"/>
            <a:ext cx="10858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1. Re-fuzzify by Hand: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Given Engine Temp = 105°C, Coolant Temp = 92°C, Env Temp = 20°C, compute membership degrees and identify firing rules.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371850"/>
            <a:ext cx="10858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2. Add 4th Input (Vehicle Speed):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Introduce Vehicle Speed (Stopped / City / Highway). High speed creates ram-air cooling—how should rule outputs adjust?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010025"/>
            <a:ext cx="108585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3. Tune Breakpoints: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Modify "Hot" membership breakpoints for heavy desert towing vs. arctic winter driving conditions.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405312"/>
            <a:ext cx="108585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4. Genetic Algorithm Integration: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Propose how a Genetic Algorithm (GA) could automatically optimize membership function parameters.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2747962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4024312"/>
            <a:ext cx="238125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4419600"/>
            <a:ext cx="171450" cy="200025"/>
          </a:xfrm>
          <a:prstGeom prst="rect">
            <a:avLst/>
          </a:prstGeom>
        </p:spPr>
      </p:pic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260758E4-9384-A0A9-CBF8-8393772BC2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030" y="3383289"/>
            <a:ext cx="205720" cy="2057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5300" y="419100"/>
            <a:ext cx="1169670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Image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900362" y="3000375"/>
            <a:ext cx="639127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00362" y="3762375"/>
            <a:ext cx="63912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00362" y="3762375"/>
            <a:ext cx="63912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362" y="31432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95737" y="3150393"/>
            <a:ext cx="52959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https://www.sdzcn.com/uploads/image/20220729/13/automotive-temperature-sensor.jpg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5737" y="3383756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www.sdzcn.com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362" y="391477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95737" y="3921918"/>
            <a:ext cx="52959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https://lookaside.fbsbx.com/lookaside/crawler/media/?media_id=4322154114693673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5737" y="4155281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www.facebook.com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2694</Words>
  <Application>Microsoft Office PowerPoint</Application>
  <PresentationFormat>Widescreen</PresentationFormat>
  <Paragraphs>395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Inter</vt:lpstr>
      <vt:lpstr>Inter Light</vt:lpstr>
      <vt:lpstr>Space Grotesk</vt:lpstr>
      <vt:lpstr>Space Grotesk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Roshni Kapadiya</cp:lastModifiedBy>
  <cp:revision>3</cp:revision>
  <dcterms:modified xsi:type="dcterms:W3CDTF">2026-10-08T03:41:23Z</dcterms:modified>
</cp:coreProperties>
</file>